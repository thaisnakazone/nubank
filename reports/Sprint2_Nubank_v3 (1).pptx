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RWA</c:v>
                </c:pt>
              </c:strCache>
            </c:strRef>
          </c:tx>
          <c:spPr>
            <a:solidFill>
              <a:srgbClr val="44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6666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A85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Q1  Mar/25</c:v>
                  </c:pt>
                  <c:pt idx="1">
                    <c:v>Q2  Jun/25</c:v>
                  </c:pt>
                  <c:pt idx="2">
                    <c:v>Q3  Set/25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135</c:v>
                </c:pt>
                <c:pt idx="1">
                  <c:v>142</c:v>
                </c:pt>
                <c:pt idx="2">
                  <c:v>158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E2E2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6576" cy="51435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804672"/>
            <a:ext cx="5074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Dados,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75488" y="1536192"/>
            <a:ext cx="5074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Ferramentas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75488" y="2267712"/>
            <a:ext cx="5074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Transformação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39136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Obtenção · Pré-processamento · Feature Engineering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0" y="4114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Nubank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0" y="9144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Negócios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Análise Preditiva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0" y="1828800"/>
            <a:ext cx="2743200" cy="0"/>
          </a:xfrm>
          <a:prstGeom prst="line">
            <a:avLst/>
          </a:prstGeom>
          <a:noFill/>
          <a:ln w="12700">
            <a:solidFill>
              <a:srgbClr val="2E2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965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C6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0" y="23042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Thiago Teles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268833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Paulo Futagawa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307238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Thaís Nakazone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34564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Tavares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8C6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cobrimos nesta sprint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61872"/>
            <a:ext cx="45720" cy="77724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335024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6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353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Fontes de Dados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682496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patrimonial · Dados macroeconômicos · Sentimento do consumidor via Reclame Aqui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167128"/>
            <a:ext cx="8229600" cy="777240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67128"/>
            <a:ext cx="45720" cy="77724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24028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6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25880" y="22585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Tecnológica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258775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scikit-learn · matplotlib · BeautifulSoup / requests · Jupyter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072384"/>
            <a:ext cx="82296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72384"/>
            <a:ext cx="45720" cy="77724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145536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6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31638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Pré-processamento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49300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Auditoria, limpeza, padronização e validação cruzada dos dados brutos em /data/raw/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77640"/>
            <a:ext cx="45720" cy="77724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4050792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6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25880" y="4069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4398264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Normalização, lags temporais, encoding, variáveis derivadas e métricas financeiras compostas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0D0D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974336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02  —  Nubank Analytics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C6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FONTES DE DADOS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onde vêm os dados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2697480" cy="3611880"/>
          </a:xfrm>
          <a:prstGeom prst="rect">
            <a:avLst/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98448"/>
            <a:ext cx="2697480" cy="54864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63040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Balanço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Patrimonial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240280"/>
            <a:ext cx="2331720" cy="0"/>
          </a:xfrm>
          <a:prstGeom prst="line">
            <a:avLst/>
          </a:prstGeom>
          <a:noFill/>
          <a:ln w="12700">
            <a:solidFill>
              <a:srgbClr val="2E2E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560320"/>
            <a:ext cx="164592" cy="27432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33172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Demonstrações financeiras — Relações com Investidores (Nubank)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3383280"/>
            <a:ext cx="164592" cy="27432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15468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Basileia e Capital Principal (Q1–Q3 2025)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" y="4206240"/>
            <a:ext cx="164592" cy="27432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97764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e indicadores regulatórios — Banco Central do Brasil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64408" y="1298448"/>
            <a:ext cx="2697480" cy="3611880"/>
          </a:xfrm>
          <a:prstGeom prst="rect">
            <a:avLst/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64408" y="1298448"/>
            <a:ext cx="2697480" cy="54864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1463040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Dados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Macroeconômicos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47288" y="2240280"/>
            <a:ext cx="2331720" cy="0"/>
          </a:xfrm>
          <a:prstGeom prst="line">
            <a:avLst/>
          </a:prstGeom>
          <a:noFill/>
          <a:ln w="12700">
            <a:solidFill>
              <a:srgbClr val="2E2E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47288" y="2560320"/>
            <a:ext cx="164592" cy="27432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233172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SELIC e IPCA — IBGE / Banco Central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47288" y="3383280"/>
            <a:ext cx="164592" cy="27432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315468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Câmbio BRL/USD — série histórica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47288" y="4206240"/>
            <a:ext cx="164592" cy="27432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397764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e indicadores de crédito — fontes oficiais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17336" y="1298448"/>
            <a:ext cx="2697480" cy="3611880"/>
          </a:xfrm>
          <a:prstGeom prst="rect">
            <a:avLst/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17336" y="1298448"/>
            <a:ext cx="2697480" cy="54864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0216" y="1463040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Consumidor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00216" y="2240280"/>
            <a:ext cx="2331720" cy="0"/>
          </a:xfrm>
          <a:prstGeom prst="line">
            <a:avLst/>
          </a:prstGeom>
          <a:noFill/>
          <a:ln w="12700">
            <a:solidFill>
              <a:srgbClr val="2E2E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0216" y="2560320"/>
            <a:ext cx="164592" cy="27432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56248" y="233172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automatizado — Reclame Aqui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00216" y="3383280"/>
            <a:ext cx="164592" cy="27432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56248" y="315468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Categorias: PIX · Cartão · Cobrança Indevida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00216" y="4206240"/>
            <a:ext cx="164592" cy="27432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56248" y="397764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frequência e agrupamento K-Means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0D0D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74336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públicas e automatizadas — reprodutibilidade garantida  |  Sprint 02  —  Nubank Analytics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C6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STACK TECNOLÓGICA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Ferramentas escolhidas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2697480" cy="1600200"/>
          </a:xfrm>
          <a:prstGeom prst="rect">
            <a:avLst/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2646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C6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94360" y="170078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3.10+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157984"/>
            <a:ext cx="274320" cy="228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6771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principal do projeto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64408" y="1261872"/>
            <a:ext cx="2697480" cy="1600200"/>
          </a:xfrm>
          <a:prstGeom prst="rect">
            <a:avLst/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47288" y="142646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C6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447288" y="170078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47288" y="2157984"/>
            <a:ext cx="274320" cy="228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7288" y="226771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Manipulação e análise de dados tabulares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17336" y="1261872"/>
            <a:ext cx="2697480" cy="1600200"/>
          </a:xfrm>
          <a:prstGeom prst="rect">
            <a:avLst/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0216" y="142646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C6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300216" y="170078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0216" y="2157984"/>
            <a:ext cx="274320" cy="228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0216" y="226771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preditivos e clustering (K-Means)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3044952"/>
            <a:ext cx="2697480" cy="1600200"/>
          </a:xfrm>
          <a:prstGeom prst="rect">
            <a:avLst/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20954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C6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94360" y="348386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matplotlib / seaborn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3941064"/>
            <a:ext cx="274320" cy="228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05079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Visualizações e dashboards analíticos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64408" y="3044952"/>
            <a:ext cx="2697480" cy="1600200"/>
          </a:xfrm>
          <a:prstGeom prst="rect">
            <a:avLst/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47288" y="320954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C6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447288" y="348386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requests + BS4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447288" y="3941064"/>
            <a:ext cx="274320" cy="228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405079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automatizado — Reclame Aqui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17336" y="3044952"/>
            <a:ext cx="2697480" cy="1600200"/>
          </a:xfrm>
          <a:prstGeom prst="rect">
            <a:avLst/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00216" y="320954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C6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300216" y="348386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Jupyter Notebooks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00216" y="3941064"/>
            <a:ext cx="274320" cy="228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0216" y="405079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Exploração, hipóteses e experimentação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0D0D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74336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02  —  Nubank Analytics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C6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PRÉ-PROCESSAMENTO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 dados brutos → limpos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1572768" cy="3429000"/>
          </a:xfrm>
          <a:prstGeom prst="rect">
            <a:avLst/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298448"/>
            <a:ext cx="1572768" cy="54864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4173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800" dirty="0"/>
          </a:p>
        </p:txBody>
      </p:sp>
      <p:sp>
        <p:nvSpPr>
          <p:cNvPr id="8" name="Shape 6"/>
          <p:cNvSpPr/>
          <p:nvPr/>
        </p:nvSpPr>
        <p:spPr>
          <a:xfrm>
            <a:off x="1024128" y="2423160"/>
            <a:ext cx="219456" cy="219456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76148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3218688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dos arquivos brutos em /data/raw/ — formatos CSV e JSON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57400" y="1298448"/>
            <a:ext cx="1572768" cy="3429000"/>
          </a:xfrm>
          <a:prstGeom prst="rect">
            <a:avLst/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57400" y="1298448"/>
            <a:ext cx="1572768" cy="54864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14173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800" dirty="0"/>
          </a:p>
        </p:txBody>
      </p:sp>
      <p:sp>
        <p:nvSpPr>
          <p:cNvPr id="14" name="Shape 12"/>
          <p:cNvSpPr/>
          <p:nvPr/>
        </p:nvSpPr>
        <p:spPr>
          <a:xfrm>
            <a:off x="2734056" y="2423160"/>
            <a:ext cx="219456" cy="219456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276148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Auditoria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48840" y="3218688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de nulos, duplicatas e inconsistências de tipos de dados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767328" y="1298448"/>
            <a:ext cx="1572768" cy="3429000"/>
          </a:xfrm>
          <a:prstGeom prst="rect">
            <a:avLst/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67328" y="1298448"/>
            <a:ext cx="1572768" cy="54864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67328" y="14173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800" dirty="0"/>
          </a:p>
        </p:txBody>
      </p:sp>
      <p:sp>
        <p:nvSpPr>
          <p:cNvPr id="20" name="Shape 18"/>
          <p:cNvSpPr/>
          <p:nvPr/>
        </p:nvSpPr>
        <p:spPr>
          <a:xfrm>
            <a:off x="4443984" y="2423160"/>
            <a:ext cx="219456" cy="219456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58768" y="276148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Limpeza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58768" y="3218688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Remoção de outliers extremos e padronização de formatos e escalas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77256" y="1298448"/>
            <a:ext cx="1572768" cy="3429000"/>
          </a:xfrm>
          <a:prstGeom prst="rect">
            <a:avLst/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5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77256" y="1298448"/>
            <a:ext cx="1572768" cy="54864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77256" y="14173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5800" dirty="0"/>
          </a:p>
        </p:txBody>
      </p:sp>
      <p:sp>
        <p:nvSpPr>
          <p:cNvPr id="26" name="Shape 24"/>
          <p:cNvSpPr/>
          <p:nvPr/>
        </p:nvSpPr>
        <p:spPr>
          <a:xfrm>
            <a:off x="6153912" y="2423160"/>
            <a:ext cx="219456" cy="219456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68696" y="276148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Validação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68696" y="3218688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cruzada entre fontes e controle de qualidade dos dados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187184" y="1298448"/>
            <a:ext cx="1572768" cy="3429000"/>
          </a:xfrm>
          <a:prstGeom prst="rect">
            <a:avLst/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5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87184" y="1298448"/>
            <a:ext cx="1572768" cy="54864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87184" y="14173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5800" dirty="0"/>
          </a:p>
        </p:txBody>
      </p:sp>
      <p:sp>
        <p:nvSpPr>
          <p:cNvPr id="32" name="Shape 30"/>
          <p:cNvSpPr/>
          <p:nvPr/>
        </p:nvSpPr>
        <p:spPr>
          <a:xfrm>
            <a:off x="7863840" y="2423160"/>
            <a:ext cx="219456" cy="219456"/>
          </a:xfrm>
          <a:prstGeom prst="ellipse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78624" y="276148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Exportação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78624" y="3218688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tratados salvos em /data/processed/ prontos para modelagem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0D0D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74336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src/data_collection.py  ·  Dados brutos permanecem imutáveis em /data/raw/  |  Sprint 02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C6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FEATURE ENGINEERING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Transformação dos dados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84048" y="1261872"/>
            <a:ext cx="4206240" cy="3474720"/>
          </a:xfrm>
          <a:prstGeom prst="rect">
            <a:avLst/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261872"/>
            <a:ext cx="4206240" cy="54864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716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Transformações aplicadas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182880" cy="228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82880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compostas — ROE, spread, NIM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487168"/>
            <a:ext cx="182880" cy="228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30428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min-max entre variáveis de escala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962656"/>
            <a:ext cx="182880" cy="228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77977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de categorias de reclamação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3438144"/>
            <a:ext cx="182880" cy="228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25526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temporais — séries macroeconômicas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3913632"/>
            <a:ext cx="182880" cy="228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73075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Agregações trimestrais (calendário Nubank)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4389120"/>
            <a:ext cx="182880" cy="228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420624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Interação: inadimplência × taxa de juros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36592" y="1261872"/>
            <a:ext cx="4041648" cy="3474720"/>
          </a:xfrm>
          <a:prstGeom prst="rect">
            <a:avLst/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36592" y="1261872"/>
            <a:ext cx="4041648" cy="54864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371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Output: RWA Total (R$ Bilhões)</a:t>
            </a:r>
            <a:endParaRPr lang="en-US" sz="12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773168" y="1755648"/>
          <a:ext cx="39319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4828032" y="3886200"/>
            <a:ext cx="1783080" cy="685800"/>
          </a:xfrm>
          <a:prstGeom prst="rect">
            <a:avLst/>
          </a:prstGeom>
          <a:solidFill>
            <a:srgbClr val="0D0D0D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28032" y="3886200"/>
            <a:ext cx="36576" cy="6858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37760" y="39136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+17%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4937760" y="425196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Q2→Q3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6793992" y="3886200"/>
            <a:ext cx="1783080" cy="685800"/>
          </a:xfrm>
          <a:prstGeom prst="rect">
            <a:avLst/>
          </a:prstGeom>
          <a:solidFill>
            <a:srgbClr val="0D0D0D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793992" y="3886200"/>
            <a:ext cx="36576" cy="68580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03720" y="39136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+882%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6903720" y="425196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Câmbio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0D0D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" y="4974336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02  —  Nubank Analytics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C6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de Reclamações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0332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clusters e frequência de problemas — dados do Reclame Aqui (Nubank)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84048" y="1353312"/>
            <a:ext cx="8375904" cy="2926080"/>
          </a:xfrm>
          <a:prstGeom prst="rect">
            <a:avLst/>
          </a:prstGeom>
          <a:solidFill>
            <a:srgbClr val="0D0D0D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50000"/>
              </a:srgbClr>
            </a:outerShdw>
          </a:effectLst>
        </p:spPr>
      </p:sp>
      <p:pic>
        <p:nvPicPr>
          <p:cNvPr id="7" name="Image 0" descr="/mnt/user-data/uploads/image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1353312"/>
            <a:ext cx="8375904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4048" y="4407408"/>
            <a:ext cx="2697480" cy="475488"/>
          </a:xfrm>
          <a:prstGeom prst="rect">
            <a:avLst/>
          </a:prstGeom>
          <a:solidFill>
            <a:srgbClr val="0D0D0D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4048" y="4407408"/>
            <a:ext cx="36576" cy="475488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" y="4425696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Problema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12064" y="4608576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Cobrança Indevida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4407408"/>
            <a:ext cx="2697480" cy="475488"/>
          </a:xfrm>
          <a:prstGeom prst="rect">
            <a:avLst/>
          </a:prstGeom>
          <a:solidFill>
            <a:srgbClr val="0D0D0D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46120" y="4407408"/>
            <a:ext cx="36576" cy="475488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74136" y="4425696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K-Means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374136" y="4608576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grupos distintos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08192" y="4407408"/>
            <a:ext cx="2697480" cy="475488"/>
          </a:xfrm>
          <a:prstGeom prst="rect">
            <a:avLst/>
          </a:prstGeom>
          <a:solidFill>
            <a:srgbClr val="0D0D0D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08192" y="4407408"/>
            <a:ext cx="36576" cy="475488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36208" y="4425696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texto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236208" y="4608576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linear significativo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C6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Indicadores Regulatórios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0332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Financeira — Evolução Q1-Q3 2025  ·  Dados transformados prontos para modelagem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84048" y="1353312"/>
            <a:ext cx="8375904" cy="2834640"/>
          </a:xfrm>
          <a:prstGeom prst="rect">
            <a:avLst/>
          </a:prstGeom>
          <a:solidFill>
            <a:srgbClr val="0D0D0D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50000"/>
              </a:srgbClr>
            </a:outerShdw>
          </a:effectLst>
        </p:spPr>
      </p:sp>
      <p:pic>
        <p:nvPicPr>
          <p:cNvPr id="7" name="Image 0" descr="/mnt/user-data/uploads/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1353312"/>
            <a:ext cx="8375904" cy="2834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4048" y="4315968"/>
            <a:ext cx="269748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4048" y="4315968"/>
            <a:ext cx="36576" cy="658368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" y="433425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14.6%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12064" y="466344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Basileia Q3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12064" y="481888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do mín. regulatório 10.5%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246120" y="4315968"/>
            <a:ext cx="269748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4315968"/>
            <a:ext cx="36576" cy="658368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74136" y="433425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R$158B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374136" y="466344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Total Q3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74136" y="481888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+17% vs Q2 2025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108192" y="4315968"/>
            <a:ext cx="2697480" cy="658368"/>
          </a:xfrm>
          <a:prstGeom prst="rect">
            <a:avLst/>
          </a:prstGeom>
          <a:solidFill>
            <a:srgbClr val="0D0D0D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08192" y="4315968"/>
            <a:ext cx="36576" cy="658368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433425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4.88%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236208" y="466344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ICP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236208" y="481888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Excedente acima do mín. 7.0%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C6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Categorias × Clusters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188720"/>
            <a:ext cx="5806440" cy="3767328"/>
          </a:xfrm>
          <a:prstGeom prst="rect">
            <a:avLst/>
          </a:prstGeom>
          <a:solidFill>
            <a:srgbClr val="0D0D0D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50000"/>
              </a:srgbClr>
            </a:outerShdw>
          </a:effectLst>
        </p:spPr>
      </p:sp>
      <p:pic>
        <p:nvPicPr>
          <p:cNvPr id="6" name="Image 0" descr="/mnt/user-data/uploads/image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" y="1188720"/>
            <a:ext cx="5806440" cy="37673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27648" y="1188720"/>
            <a:ext cx="2450592" cy="3767328"/>
          </a:xfrm>
          <a:prstGeom prst="rect">
            <a:avLst/>
          </a:prstGeom>
          <a:solidFill>
            <a:srgbClr val="1E1E1E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5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327648" y="1188720"/>
            <a:ext cx="2450592" cy="54864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12801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Principais insights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46520" y="1627632"/>
            <a:ext cx="2148840" cy="0"/>
          </a:xfrm>
          <a:prstGeom prst="line">
            <a:avLst/>
          </a:prstGeom>
          <a:noFill/>
          <a:ln w="12700">
            <a:solidFill>
              <a:srgbClr val="2E2E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1783080"/>
            <a:ext cx="164592" cy="228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181051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3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46520" y="202996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 de Crédito lidera com 23 ocorrências — principal ponto de atrito dos clientes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446520" y="2587752"/>
            <a:ext cx="164592" cy="228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261518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46520" y="283464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 Indevida concentra 13 casos — padrão recorrente de contestação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446520" y="3392424"/>
            <a:ext cx="164592" cy="228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46520" y="3419856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0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446520" y="3639312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difusos: Outros (10) e PIX (7) — demanda investigação adicional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6446520" y="4197096"/>
            <a:ext cx="164592" cy="228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46520" y="422452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1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446520" y="444398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à Conta com 7 ocorrências — possíveis falhas de autenticação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438912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36576" cy="438912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C6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" y="804672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Concluída.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5303520" cy="0"/>
          </a:xfrm>
          <a:prstGeom prst="line">
            <a:avLst/>
          </a:prstGeom>
          <a:noFill/>
          <a:ln w="12700">
            <a:solidFill>
              <a:srgbClr val="2E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8803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 — Sprint 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474720"/>
            <a:ext cx="164592" cy="228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7355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preditivos — Regressão e Forecast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858768"/>
            <a:ext cx="164592" cy="228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6576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de cenários e simulações estatísticas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4242816"/>
            <a:ext cx="164592" cy="228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4164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hiperparâmetros e validação cruzada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4626864"/>
            <a:ext cx="164592" cy="228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42569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insights estratégicos para o relatório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46520" y="4572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Nubank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46520" y="10058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Negócios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Análise Preditiva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1828800"/>
            <a:ext cx="2377440" cy="0"/>
          </a:xfrm>
          <a:prstGeom prst="line">
            <a:avLst/>
          </a:prstGeom>
          <a:noFill/>
          <a:ln w="12700">
            <a:solidFill>
              <a:srgbClr val="2E2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965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8C6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446520" y="226771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Thiago Teles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26151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Paulo Futagawa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6520" y="296265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Thaís Nakazone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33101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Tavares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43484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Nubank Analytics  —  Sprint 02  — 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2 — Nubank</dc:title>
  <dc:subject>PptxGenJS Presentation</dc:subject>
  <dc:creator>PptxGenJS</dc:creator>
  <cp:lastModifiedBy>PptxGenJS</cp:lastModifiedBy>
  <cp:revision>1</cp:revision>
  <dcterms:created xsi:type="dcterms:W3CDTF">2026-04-18T03:13:46Z</dcterms:created>
  <dcterms:modified xsi:type="dcterms:W3CDTF">2026-04-18T03:13:46Z</dcterms:modified>
</cp:coreProperties>
</file>